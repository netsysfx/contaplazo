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cb8d8420164fe1" /><Relationship Type="http://schemas.openxmlformats.org/officeDocument/2006/relationships/extended-properties" Target="/docProps/app.xml" Id="R15b7077529834f2b" /><Relationship Type="http://schemas.openxmlformats.org/officeDocument/2006/relationships/officeDocument" Target="/ppt/presentation.xml" Id="Rff69a67cc0164f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319c4aeee541e1"/>
  </p:sldMasterIdLst>
  <p:notesMasterIdLst>
    <p:notesMasterId xmlns:r="http://schemas.openxmlformats.org/officeDocument/2006/relationships" r:id="R890ff974a17249bc"/>
  </p:notesMasterIdLst>
  <p:sldIdLst>
    <p:sldId xmlns:r="http://schemas.openxmlformats.org/officeDocument/2006/relationships" id="256" r:id="Rc3e99ec8ff9e4b86"/>
    <p:sldId xmlns:r="http://schemas.openxmlformats.org/officeDocument/2006/relationships" id="257" r:id="R6a2f31d85f314de3"/>
    <p:sldId xmlns:r="http://schemas.openxmlformats.org/officeDocument/2006/relationships" id="258" r:id="R850b30a88e424974"/>
    <p:sldId xmlns:r="http://schemas.openxmlformats.org/officeDocument/2006/relationships" id="259" r:id="Rbc23c473371f4a12"/>
    <p:sldId xmlns:r="http://schemas.openxmlformats.org/officeDocument/2006/relationships" id="260" r:id="R82f26e0bfb1a4861"/>
    <p:sldId xmlns:r="http://schemas.openxmlformats.org/officeDocument/2006/relationships" id="261" r:id="R588fdf80b278452f"/>
    <p:sldId xmlns:r="http://schemas.openxmlformats.org/officeDocument/2006/relationships" id="262" r:id="Raa3ad95aa1e34916"/>
    <p:sldId xmlns:r="http://schemas.openxmlformats.org/officeDocument/2006/relationships" id="263" r:id="Rf7f337ad054e44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afabdf38a1433a" /><Relationship Type="http://schemas.openxmlformats.org/officeDocument/2006/relationships/slideMaster" Target="/ppt/slideMasters/slideMaster1.xml" Id="Re7319c4aeee541e1" /><Relationship Type="http://schemas.openxmlformats.org/officeDocument/2006/relationships/notesMaster" Target="/ppt/notesMasters/notesMaster1.xml" Id="R890ff974a17249bc" /><Relationship Type="http://schemas.openxmlformats.org/officeDocument/2006/relationships/presProps" Target="/ppt/presProps.xml" Id="R9be016b5f0b540f9" /><Relationship Type="http://schemas.openxmlformats.org/officeDocument/2006/relationships/tableStyles" Target="/ppt/tableStyles.xml" Id="Rcc1b60a5f8c34317" /><Relationship Type="http://schemas.openxmlformats.org/officeDocument/2006/relationships/slide" Target="/ppt/slides/slide1.xml" Id="Rc3e99ec8ff9e4b86" /><Relationship Type="http://schemas.openxmlformats.org/officeDocument/2006/relationships/slide" Target="/ppt/slides/slide2.xml" Id="R6a2f31d85f314de3" /><Relationship Type="http://schemas.openxmlformats.org/officeDocument/2006/relationships/slide" Target="/ppt/slides/slide3.xml" Id="R850b30a88e424974" /><Relationship Type="http://schemas.openxmlformats.org/officeDocument/2006/relationships/slide" Target="/ppt/slides/slide4.xml" Id="Rbc23c473371f4a12" /><Relationship Type="http://schemas.openxmlformats.org/officeDocument/2006/relationships/slide" Target="/ppt/slides/slide5.xml" Id="R82f26e0bfb1a4861" /><Relationship Type="http://schemas.openxmlformats.org/officeDocument/2006/relationships/slide" Target="/ppt/slides/slide6.xml" Id="R588fdf80b278452f" /><Relationship Type="http://schemas.openxmlformats.org/officeDocument/2006/relationships/slide" Target="/ppt/slides/slide7.xml" Id="Raa3ad95aa1e34916" /><Relationship Type="http://schemas.openxmlformats.org/officeDocument/2006/relationships/slide" Target="/ppt/slides/slide8.xml" Id="Rf7f337ad054e44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8e40aa020d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18b2868e2b46c1" /><Relationship Type="http://schemas.openxmlformats.org/officeDocument/2006/relationships/notesMaster" Target="/ppt/notesMasters/notesMaster1.xml" Id="Rb4c47031728940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c3feb2778140c4" /><Relationship Type="http://schemas.openxmlformats.org/officeDocument/2006/relationships/notesMaster" Target="/ppt/notesMasters/notesMaster1.xml" Id="Ra964f31e53d843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35a1925244921" /><Relationship Type="http://schemas.openxmlformats.org/officeDocument/2006/relationships/notesMaster" Target="/ppt/notesMasters/notesMaster1.xml" Id="R794eab5bbf124c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dfc0b694584f0f" /><Relationship Type="http://schemas.openxmlformats.org/officeDocument/2006/relationships/notesMaster" Target="/ppt/notesMasters/notesMaster1.xml" Id="R8662849e343f4d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eea73115e14811" /><Relationship Type="http://schemas.openxmlformats.org/officeDocument/2006/relationships/notesMaster" Target="/ppt/notesMasters/notesMaster1.xml" Id="R99e95e85ece347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ce05c06a1141b7" /><Relationship Type="http://schemas.openxmlformats.org/officeDocument/2006/relationships/notesMaster" Target="/ppt/notesMasters/notesMaster1.xml" Id="Ra2a24c5dd33049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528384b1774c32" /><Relationship Type="http://schemas.openxmlformats.org/officeDocument/2006/relationships/notesMaster" Target="/ppt/notesMasters/notesMaster1.xml" Id="Ra82d3463323d4d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b6e9b547d6401f" /><Relationship Type="http://schemas.openxmlformats.org/officeDocument/2006/relationships/notesMaster" Target="/ppt/notesMasters/notesMaster1.xml" Id="R906ab72996d2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ef32f83f44d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dd0ac072f44c82" /><Relationship Type="http://schemas.openxmlformats.org/officeDocument/2006/relationships/slideLayout" Target="/ppt/slideLayouts/slideLayout1.xml" Id="R7ed59324ac26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d59324ac26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afba9cdb84947" /><Relationship Type="http://schemas.openxmlformats.org/officeDocument/2006/relationships/image" Target="/ppt/media/image.png" Id="Rabe2da763de54652" /><Relationship Type="http://schemas.openxmlformats.org/officeDocument/2006/relationships/notesSlide" Target="/ppt/notesSlides/notesSlide1.xml" Id="Re545851a8ab9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313702ca54a27" /><Relationship Type="http://schemas.openxmlformats.org/officeDocument/2006/relationships/notesSlide" Target="/ppt/notesSlides/notesSlide2.xml" Id="R3b0f8145a1d54d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25d4a3889446b" /><Relationship Type="http://schemas.openxmlformats.org/officeDocument/2006/relationships/notesSlide" Target="/ppt/notesSlides/notesSlide3.xml" Id="Rbfaf455237994c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810449b254550" /><Relationship Type="http://schemas.openxmlformats.org/officeDocument/2006/relationships/notesSlide" Target="/ppt/notesSlides/notesSlide4.xml" Id="R23c25cc0fa78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95674677f4c2b" /><Relationship Type="http://schemas.openxmlformats.org/officeDocument/2006/relationships/image" Target="/ppt/media/image2.png" Id="Rb6ef148e393445cb" /><Relationship Type="http://schemas.openxmlformats.org/officeDocument/2006/relationships/notesSlide" Target="/ppt/notesSlides/notesSlide5.xml" Id="R9b48f134391a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16a20d0cf4259" /><Relationship Type="http://schemas.openxmlformats.org/officeDocument/2006/relationships/image" Target="/ppt/media/image3.png" Id="Rfa684890c6124bc7" /><Relationship Type="http://schemas.openxmlformats.org/officeDocument/2006/relationships/notesSlide" Target="/ppt/notesSlides/notesSlide6.xml" Id="R3ecf3fc2196641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54235a7494182" /><Relationship Type="http://schemas.openxmlformats.org/officeDocument/2006/relationships/notesSlide" Target="/ppt/notesSlides/notesSlide7.xml" Id="Rf7fc1318c757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92a83d6cf4c16" /><Relationship Type="http://schemas.openxmlformats.org/officeDocument/2006/relationships/notesSlide" Target="/ppt/notesSlides/notesSlide8.xml" Id="Ra8a1276334044d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F6AC0-C92F-4674-8E6E-8035DE9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38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CBC9C-99CF-434E-AD50-852B356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F3E8"/>
                </a:solidFill>
              </a:defRPr>
            </a:pPr>
            <a:r>
              <a:rPr sz="1500" b="1">
                <a:solidFill>
                  <a:srgbClr val="DFF3E8"/>
                </a:solidFill>
              </a:rPr>
              <a:t>CONTAPLAZO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4815-3373-482C-98E5-9EBCDD41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Control tributario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sin fechas perdidas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E44B0-12F5-4C52-8A19-DD0C6032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EE3"/>
                </a:solidFill>
              </a:defRPr>
            </a:pPr>
            <a:r>
              <a:rPr sz="1650" b="0">
                <a:solidFill>
                  <a:srgbClr val="D7EEE3"/>
                </a:solidFill>
              </a:rPr>
              <a:t>Aplicación móvil para contadores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2da763de54652"/>
          <a:stretch xmlns:a="http://schemas.openxmlformats.org/drawingml/2006/main"/>
        </p:blipFill>
        <p:spPr>
          <a:xfrm xmlns:a="http://schemas.openxmlformats.org/drawingml/2006/main">
            <a:off x="4762500" y="1504355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9CB31-B134-41C2-B57E-02E8C92B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EEE3"/>
                </a:solidFill>
              </a:defRPr>
            </a:pPr>
            <a:r>
              <a:rPr sz="1050" b="0">
                <a:solidFill>
                  <a:srgbClr val="D7EEE3"/>
                </a:solidFill>
              </a:rPr>
              <a:t>Proyecto final • 2026</a:t>
            </a:r>
          </a:p>
        </p:txBody>
      </p:sp>
    </p:spTree>
    <p:extLst>
      <p:ext uri="{BB962C8B-B14F-4D97-AF65-F5344CB8AC3E}">
        <p14:creationId xmlns:p14="http://schemas.microsoft.com/office/powerpoint/2010/main" val="1923238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D3175-0A87-4EF7-AAA9-C191738C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83E"/>
                </a:solidFill>
              </a:defRPr>
            </a:pPr>
            <a:r>
              <a:rPr sz="1050" b="1">
                <a:solidFill>
                  <a:srgbClr val="07583E"/>
                </a:solidFill>
              </a:rPr>
              <a:t>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C4C13-D36B-463A-A30A-8B07CE81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A"/>
                </a:solidFill>
              </a:defRPr>
            </a:pPr>
            <a:r>
              <a:rPr sz="2925" b="1">
                <a:solidFill>
                  <a:srgbClr val="10231A"/>
                </a:solidFill>
              </a:rPr>
              <a:t>La información dispersa vuelve frágil el trabajo del contador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98594-B2EC-4109-85E9-05B81F34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B0D34-4D53-4FD6-83FE-4DB6108C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67"/>
                </a:solidFill>
              </a:defRPr>
            </a:pPr>
            <a:r>
              <a:rPr sz="1200" b="1">
                <a:solidFill>
                  <a:srgbClr val="607067"/>
                </a:solidFill>
              </a:rPr>
              <a:t>HOY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3C068-12AA-4C0C-AC63-6E38BB18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83E"/>
                </a:solidFill>
              </a:defRPr>
            </a:pPr>
            <a:r>
              <a:rPr sz="1200" b="1">
                <a:solidFill>
                  <a:srgbClr val="07583E"/>
                </a:solidFill>
              </a:rPr>
              <a:t>CON CONTAPLAZO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1CA39-0889-4399-8ED4-1920F5B2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83E"/>
                </a:solidFill>
              </a:defRPr>
            </a:pPr>
            <a:r>
              <a:rPr sz="1725" b="1">
                <a:solidFill>
                  <a:srgbClr val="07583E"/>
                </a:solidFill>
              </a:rPr>
              <a:t>Fechas en varias fuentes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8064B-EC89-4B7B-B601-DED65D39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El seguimiento manual aumenta el riesgo de omitir vencimientos.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92350-0D21-4A8C-BA79-F3F782A4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83E"/>
                </a:solidFill>
              </a:defRPr>
            </a:pPr>
            <a:r>
              <a:rPr sz="1725" b="1">
                <a:solidFill>
                  <a:srgbClr val="07583E"/>
                </a:solidFill>
              </a:rPr>
              <a:t>Documentos fuera del expediente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6D3BB-73A9-471C-9810-87137F35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Chats y carpetas separadas dificultan saber qué soporte pertenece a cada cliente.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E55FE-3135-4363-8D9C-214E7AAE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83E"/>
                </a:solidFill>
              </a:defRPr>
            </a:pPr>
            <a:r>
              <a:rPr sz="1725" b="1">
                <a:solidFill>
                  <a:srgbClr val="07583E"/>
                </a:solidFill>
              </a:rPr>
              <a:t>Cartera sin visibilidad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FC298-515A-456E-BD95-2130FABB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Los honorarios y pagos no siempre están relacionados con la declaración.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33883-33C2-40CE-B0D6-0D83A78F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831DE-26DC-42DD-A843-36BBB9E1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83E"/>
                </a:solidFill>
              </a:defRPr>
            </a:pPr>
            <a:r>
              <a:rPr sz="1725" b="1">
                <a:solidFill>
                  <a:srgbClr val="07583E"/>
                </a:solidFill>
              </a:rPr>
              <a:t>Agenda tributaria centralizada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46038-E9E9-4B59-A44D-427EC89E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051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Clientes, fechas, estados y recordatorios en una sola aplicación.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DAC13-07FB-4928-BCAB-E2C0C488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83E"/>
                </a:solidFill>
              </a:defRPr>
            </a:pPr>
            <a:r>
              <a:rPr sz="1725" b="1">
                <a:solidFill>
                  <a:srgbClr val="07583E"/>
                </a:solidFill>
              </a:rPr>
              <a:t>Expediente documental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4996F-ABC7-4464-BF71-642EC323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672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Carga, apertura y eliminación de archivos vinculados al cliente.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7B9DB-7D15-45C2-974A-31D33F1B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67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583E"/>
                </a:solidFill>
              </a:defRPr>
            </a:pPr>
            <a:r>
              <a:rPr sz="1725" b="1">
                <a:solidFill>
                  <a:srgbClr val="07583E"/>
                </a:solidFill>
              </a:rPr>
              <a:t>Estado de cuenta accionable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5DBC0-16F2-442E-A028-EF91A169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Honorarios, pagos y saldos pendientes visibles desde el dashboard.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C6F4F-BE08-4285-A072-8A6D092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7"/>
                </a:solidFill>
              </a:defRPr>
            </a:pPr>
            <a:r>
              <a:rPr sz="825" b="0">
                <a:solidFill>
                  <a:srgbClr val="607067"/>
                </a:solidFill>
              </a:rPr>
              <a:t>ContaPlazo  •  Diseño de Aplicaciones Móviles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E340E-B47F-46CF-AB4A-3CC2DD66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0022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97B55-E9E5-4A12-8BAB-CDC798D3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83E"/>
                </a:solidFill>
              </a:defRPr>
            </a:pPr>
            <a:r>
              <a:rPr sz="1050" b="1">
                <a:solidFill>
                  <a:srgbClr val="07583E"/>
                </a:solidFill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887F1-A89D-42B2-AFC7-8F9DB4E0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A"/>
                </a:solidFill>
              </a:defRPr>
            </a:pPr>
            <a:r>
              <a:rPr sz="2925" b="1">
                <a:solidFill>
                  <a:srgbClr val="10231A"/>
                </a:solidFill>
              </a:rPr>
              <a:t>Un flujo único conecta clientes, declaraciones, documentos y cobros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78CD9-167C-48E2-BABC-953C1B8E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67"/>
                </a:solidFill>
              </a:defRPr>
            </a:pPr>
            <a:r>
              <a:rPr sz="1500" b="0">
                <a:solidFill>
                  <a:srgbClr val="607067"/>
                </a:solidFill>
              </a:rPr>
              <a:t>Diseñada para operar sin conexión y sincronizar cuando la nube está disponible.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F06E4-FD58-463F-A89B-21985521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71E17-E9BB-4FF9-A0F5-9FB38A7A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83E"/>
                </a:solidFill>
              </a:defRPr>
            </a:pPr>
            <a:r>
              <a:rPr sz="3150" b="1">
                <a:solidFill>
                  <a:srgbClr val="07583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1D2A5-0570-4DFB-9E12-9CEC29EE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A"/>
                </a:solidFill>
              </a:defRPr>
            </a:pPr>
            <a:r>
              <a:rPr sz="1800" b="1">
                <a:solidFill>
                  <a:srgbClr val="10231A"/>
                </a:solidFill>
              </a:rPr>
              <a:t>Registrar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FF930-9C48-4007-A3AE-89D8C6E9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7"/>
                </a:solidFill>
              </a:defRPr>
            </a:pPr>
            <a:r>
              <a:rPr sz="1275" b="0">
                <a:solidFill>
                  <a:srgbClr val="607067"/>
                </a:solidFill>
              </a:rPr>
              <a:t>Datos del cliente, vencimiento y honorarios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EB1FA-1705-48CB-9207-A504486E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F6FCC-D6CC-4F7A-942F-DD573164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76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83E"/>
                </a:solidFill>
              </a:defRPr>
            </a:pPr>
            <a:r>
              <a:rPr sz="3150" b="1">
                <a:solidFill>
                  <a:srgbClr val="07583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E14A1-0970-4C04-97D3-C0F959D2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43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A"/>
                </a:solidFill>
              </a:defRPr>
            </a:pPr>
            <a:r>
              <a:rPr sz="1800" b="1">
                <a:solidFill>
                  <a:srgbClr val="10231A"/>
                </a:solidFill>
              </a:rPr>
              <a:t>Controlar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94C4D-8092-48C9-835E-75510D3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0045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7"/>
                </a:solidFill>
              </a:defRPr>
            </a:pPr>
            <a:r>
              <a:rPr sz="1275" b="0">
                <a:solidFill>
                  <a:srgbClr val="607067"/>
                </a:solidFill>
              </a:rPr>
              <a:t>Estados de declaración, pago y saldo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E9799-212A-4BFB-9FA1-3B4E675A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AF09F-CB8E-4003-A087-5F86B13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83E"/>
                </a:solidFill>
              </a:defRPr>
            </a:pPr>
            <a:r>
              <a:rPr sz="3150" b="1">
                <a:solidFill>
                  <a:srgbClr val="07583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87543-FE20-422A-B371-976D6F7E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A"/>
                </a:solidFill>
              </a:defRPr>
            </a:pPr>
            <a:r>
              <a:rPr sz="1800" b="1">
                <a:solidFill>
                  <a:srgbClr val="10231A"/>
                </a:solidFill>
              </a:rPr>
              <a:t>Documentar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3EAF8-F916-4EE1-9402-B64D532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7"/>
                </a:solidFill>
              </a:defRPr>
            </a:pPr>
            <a:r>
              <a:rPr sz="1275" b="0">
                <a:solidFill>
                  <a:srgbClr val="607067"/>
                </a:solidFill>
              </a:rPr>
              <a:t>Soportes privados organizados por cliente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E567B-38B7-4666-879E-A4B731DB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89C89-3774-4ACC-8634-61F0DA9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76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7A928"/>
                </a:solidFill>
              </a:defRPr>
            </a:pPr>
            <a:r>
              <a:rPr sz="3150" b="1">
                <a:solidFill>
                  <a:srgbClr val="D7A92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F1065-D2B4-43D4-A313-987619DC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43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1A"/>
                </a:solidFill>
              </a:defRPr>
            </a:pPr>
            <a:r>
              <a:rPr sz="1800" b="1">
                <a:solidFill>
                  <a:srgbClr val="10231A"/>
                </a:solidFill>
              </a:rPr>
              <a:t>Anticipar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89FEE-08E5-4BFC-95F8-B1BA540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00450"/>
            <a:ext cx="228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7"/>
                </a:solidFill>
              </a:defRPr>
            </a:pPr>
            <a:r>
              <a:rPr sz="1275" b="0">
                <a:solidFill>
                  <a:srgbClr val="607067"/>
                </a:solidFill>
              </a:rPr>
              <a:t>Dashboard con pendientes y cartera por cobrar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06F52-891C-458D-A0AD-A6AACC7B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583E"/>
                </a:solidFill>
              </a:defRPr>
            </a:pPr>
            <a:r>
              <a:rPr sz="1275" b="1">
                <a:solidFill>
                  <a:srgbClr val="07583E"/>
                </a:solidFill>
              </a:rPr>
              <a:t>Resultado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241A1-7FF9-4E70-87D6-C8226D94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959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A"/>
                </a:solidFill>
              </a:defRPr>
            </a:pPr>
            <a:r>
              <a:rPr sz="1875" b="1">
                <a:solidFill>
                  <a:srgbClr val="10231A"/>
                </a:solidFill>
              </a:rPr>
              <a:t>Menos seguimiento manual y mayor trazabilidad sobre cada obligación tributaria.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6B60D-9178-44EC-B0C9-897476FA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7"/>
                </a:solidFill>
              </a:defRPr>
            </a:pPr>
            <a:r>
              <a:rPr sz="825" b="0">
                <a:solidFill>
                  <a:srgbClr val="607067"/>
                </a:solidFill>
              </a:rPr>
              <a:t>ContaPlazo  •  Diseño de Aplicaciones Móviles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EC2CA-7301-4E62-AC7E-E1D21B43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3143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44E9CC-18CD-4B99-B222-11235E7E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83E"/>
                </a:solidFill>
              </a:defRPr>
            </a:pPr>
            <a:r>
              <a:rPr sz="1050" b="1">
                <a:solidFill>
                  <a:srgbClr val="07583E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BAA6C-3BF6-4548-932D-CFA06B8B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A"/>
                </a:solidFill>
              </a:defRPr>
            </a:pPr>
            <a:r>
              <a:rPr sz="2925" b="1">
                <a:solidFill>
                  <a:srgbClr val="10231A"/>
                </a:solidFill>
              </a:rPr>
              <a:t>Offline-first protege la continuidad; Supabase aporta sincronización segura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C125E-5714-4E85-BA95-A47FB1CC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21A65-A409-49DF-AD25-62C5A4B2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9950"/>
            <a:ext cx="1190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A918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A00D3-5062-4E1E-B0CE-E4CB142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09950"/>
            <a:ext cx="1190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A91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319DA-ACA0-4322-91AF-3F96808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11430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A91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00F6E-CE1F-49A9-B81B-36E1CAA5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1143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A91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E9F87-36F9-4EC5-BAD2-3A83CCF6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981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E8"/>
          </a:solidFill>
          <a:ln xmlns:a="http://schemas.openxmlformats.org/drawingml/2006/main" w="9525">
            <a:solidFill>
              <a:srgbClr val="0758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AB4AF-7DD1-4971-9BA2-0648F0F2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83E"/>
                </a:solidFill>
              </a:defRPr>
            </a:pPr>
            <a:r>
              <a:rPr sz="1275" b="1">
                <a:solidFill>
                  <a:srgbClr val="07583E"/>
                </a:solidFill>
              </a:rPr>
              <a:t>CONTADOR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2D604-C0AB-4831-8B43-A0239F56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1A"/>
                </a:solidFill>
              </a:defRPr>
            </a:pPr>
            <a:r>
              <a:rPr sz="1650" b="1">
                <a:solidFill>
                  <a:srgbClr val="10231A"/>
                </a:solidFill>
              </a:rPr>
              <a:t>Android / 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EC00D-5B17-4777-9672-FBEFAA0E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90800"/>
            <a:ext cx="17145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7E1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07647-62A4-4459-B4F0-F6C3D5AF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583E"/>
                </a:solidFill>
              </a:defRPr>
            </a:pPr>
            <a:r>
              <a:rPr sz="1575" b="1">
                <a:solidFill>
                  <a:srgbClr val="07583E"/>
                </a:solidFill>
              </a:rPr>
              <a:t>FLUTTER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09E23-64BC-4C0B-86BA-62EC6D2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123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Interfaz + lógica</a:t>
            </a:r>
          </a:p>
          <a:p xmlns:a="http://schemas.openxmlformats.org/drawingml/2006/main">
            <a:pPr algn="ctr">
              <a:defRPr sz="1275" b="0">
                <a:solidFill>
                  <a:srgbClr val="10231A"/>
                </a:solidFill>
              </a:defRPr>
            </a:pPr>
            <a:r>
              <a:rPr sz="1275" b="0">
                <a:solidFill>
                  <a:srgbClr val="10231A"/>
                </a:solidFill>
              </a:rPr>
              <a:t>de negocio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7EFC8-7E35-4A28-93C3-71B4F97B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17145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DFF3E8"/>
          </a:solidFill>
          <a:ln xmlns:a="http://schemas.openxmlformats.org/drawingml/2006/main" w="9525">
            <a:solidFill>
              <a:srgbClr val="0758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ADC69-F8C5-42C2-A933-57306CD9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83E"/>
                </a:solidFill>
              </a:defRPr>
            </a:pPr>
            <a:r>
              <a:rPr sz="1275" b="1">
                <a:solidFill>
                  <a:srgbClr val="07583E"/>
                </a:solidFill>
              </a:rPr>
              <a:t>OFFLINE-FIRST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9574B-F081-4752-BD70-BD57F8EB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A"/>
                </a:solidFill>
              </a:defRPr>
            </a:pPr>
            <a:r>
              <a:rPr sz="1350" b="1">
                <a:solidFill>
                  <a:srgbClr val="10231A"/>
                </a:solidFill>
              </a:rPr>
              <a:t>SQLite</a:t>
            </a:r>
          </a:p>
          <a:p xmlns:a="http://schemas.openxmlformats.org/drawingml/2006/main">
            <a:pPr algn="ctr">
              <a:defRPr sz="1350" b="1">
                <a:solidFill>
                  <a:srgbClr val="10231A"/>
                </a:solidFill>
              </a:defRPr>
            </a:pPr>
            <a:r>
              <a:rPr sz="1350" b="1">
                <a:solidFill>
                  <a:srgbClr val="10231A"/>
                </a:solidFill>
              </a:rPr>
              <a:t>+ archivos locales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CA350-075B-4DA2-ACB6-C40C1A63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85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7E1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EFC57-2E3E-47DA-91D8-1DB51C75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24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83E"/>
                </a:solidFill>
              </a:defRPr>
            </a:pPr>
            <a:r>
              <a:rPr sz="1425" b="1">
                <a:solidFill>
                  <a:srgbClr val="07583E"/>
                </a:solidFill>
              </a:rPr>
              <a:t>SUPABASE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0FCAE-9E41-425A-9251-FE377C6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67"/>
                </a:solidFill>
              </a:defRPr>
            </a:pPr>
            <a:r>
              <a:rPr sz="1125" b="0">
                <a:solidFill>
                  <a:srgbClr val="607067"/>
                </a:solidFill>
              </a:rPr>
              <a:t>Auth +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BC06F-92F0-493E-BECF-7F62DEE4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18859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D7E1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EC0AD-14FD-4C9B-A3B6-BD2EC074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29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83E"/>
                </a:solidFill>
              </a:defRPr>
            </a:pPr>
            <a:r>
              <a:rPr sz="1425" b="1">
                <a:solidFill>
                  <a:srgbClr val="07583E"/>
                </a:solidFill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A6CC0-34D9-4F77-BB62-072E4C91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552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67"/>
                </a:solidFill>
              </a:defRPr>
            </a:pPr>
            <a:r>
              <a:rPr sz="1125" b="0">
                <a:solidFill>
                  <a:srgbClr val="607067"/>
                </a:solidFill>
              </a:rPr>
              <a:t>Documentos privados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FBEB1-1009-4EAE-8CDA-0F1CC8D6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81625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31A"/>
                </a:solidFill>
              </a:defRPr>
            </a:pPr>
            <a:r>
              <a:rPr sz="1425" b="1">
                <a:solidFill>
                  <a:srgbClr val="10231A"/>
                </a:solidFill>
              </a:rPr>
              <a:t>RLS limita cada registro y archivo al usuario autenticado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BEF84-7F90-4C7C-B3EF-BC8B3B5D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7"/>
                </a:solidFill>
              </a:defRPr>
            </a:pPr>
            <a:r>
              <a:rPr sz="825" b="0">
                <a:solidFill>
                  <a:srgbClr val="607067"/>
                </a:solidFill>
              </a:rPr>
              <a:t>ContaPlazo  •  Diseño de Aplicaciones Móviles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9D919-2A97-4D2B-989B-81D52313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0761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65810-FEFB-4997-A3F6-4E5A012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83E"/>
                </a:solidFill>
              </a:defRPr>
            </a:pPr>
            <a:r>
              <a:rPr sz="1050" b="1">
                <a:solidFill>
                  <a:srgbClr val="07583E"/>
                </a:solidFill>
              </a:rPr>
              <a:t>EVIDENCIA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52EEA-0F53-4F05-BCA1-FA5E9C52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A"/>
                </a:solidFill>
              </a:defRPr>
            </a:pPr>
            <a:r>
              <a:rPr sz="2925" b="1">
                <a:solidFill>
                  <a:srgbClr val="10231A"/>
                </a:solidFill>
              </a:rPr>
              <a:t>El dashboard convierte pendientes y cartera en acciones concretas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A7E5E-5467-49A4-805D-4E5A074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B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f148e393445cb"/>
          <a:stretch xmlns:a="http://schemas.openxmlformats.org/drawingml/2006/main"/>
        </p:blipFill>
        <p:spPr>
          <a:xfrm xmlns:a="http://schemas.openxmlformats.org/drawingml/2006/main">
            <a:off x="685800" y="22205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77313-CD3B-4D14-9ECA-CE4ABE02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83E"/>
                </a:solidFill>
              </a:defRPr>
            </a:pPr>
            <a:r>
              <a:rPr sz="1800" b="1">
                <a:solidFill>
                  <a:srgbClr val="07583E"/>
                </a:solidFill>
              </a:rPr>
              <a:t>Lectura inmediata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01C92-9E78-4676-BBFA-10540954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4800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• Declaraciones pendientes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• Saldo total por cobrar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• Próximos vencimientos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• Acceso al detalle por 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D76C5-1885-4FCF-AFA4-636602E6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7"/>
                </a:solidFill>
              </a:defRPr>
            </a:pPr>
            <a:r>
              <a:rPr sz="825" b="0">
                <a:solidFill>
                  <a:srgbClr val="607067"/>
                </a:solidFill>
              </a:rPr>
              <a:t>ContaPlazo  •  Diseño de Aplicaciones Móviles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649F1-84DF-466A-93C5-01CB261C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8636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BD4B6-AA84-4C4F-A5CD-050023C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83E"/>
                </a:solidFill>
              </a:defRPr>
            </a:pPr>
            <a:r>
              <a:rPr sz="1050" b="1">
                <a:solidFill>
                  <a:srgbClr val="07583E"/>
                </a:solidFill>
              </a:rPr>
              <a:t>EVIDENCIA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B15DE-4F2E-4DFF-ABA4-79F0FFD9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A"/>
                </a:solidFill>
              </a:defRPr>
            </a:pPr>
            <a:r>
              <a:rPr sz="2925" b="1">
                <a:solidFill>
                  <a:srgbClr val="10231A"/>
                </a:solidFill>
              </a:rPr>
              <a:t>Cada cliente conserva un expediente documental controlado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D4390-3D4B-41F0-B81B-2577D177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B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84890c6124bc7"/>
          <a:stretch xmlns:a="http://schemas.openxmlformats.org/drawingml/2006/main"/>
        </p:blipFill>
        <p:spPr>
          <a:xfrm xmlns:a="http://schemas.openxmlformats.org/drawingml/2006/main">
            <a:off x="685800" y="2220516"/>
            <a:ext cx="6667500" cy="37504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94BAC-9E4D-4AF6-A7BC-22843A20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765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583E"/>
                </a:solidFill>
              </a:defRPr>
            </a:pPr>
            <a:r>
              <a:rPr sz="1800" b="1">
                <a:solidFill>
                  <a:srgbClr val="07583E"/>
                </a:solidFill>
              </a:rPr>
              <a:t>Operaciones disponibles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AAA03-AFB8-4E2B-87D9-EC9A78CE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A"/>
                </a:solidFill>
              </a:defRPr>
            </a:pPr>
            <a:r>
              <a:rPr sz="1500" b="1">
                <a:solidFill>
                  <a:srgbClr val="10231A"/>
                </a:solidFill>
              </a:rPr>
              <a:t>Cargar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E188E-4251-479D-AC5C-D395BDF2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7"/>
                </a:solidFill>
              </a:defRPr>
            </a:pPr>
            <a:r>
              <a:rPr sz="1275" b="0">
                <a:solidFill>
                  <a:srgbClr val="607067"/>
                </a:solidFill>
              </a:rPr>
              <a:t>Selecciona archivos del dispositivo.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28AE1-E877-4459-80E9-62A2E585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A"/>
                </a:solidFill>
              </a:defRPr>
            </a:pPr>
            <a:r>
              <a:rPr sz="1500" b="1">
                <a:solidFill>
                  <a:srgbClr val="10231A"/>
                </a:solidFill>
              </a:rPr>
              <a:t>Abrir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02682-AC8A-4F3A-B370-9E74DD39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291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7"/>
                </a:solidFill>
              </a:defRPr>
            </a:pPr>
            <a:r>
              <a:rPr sz="1275" b="0">
                <a:solidFill>
                  <a:srgbClr val="607067"/>
                </a:solidFill>
              </a:rPr>
              <a:t>Permite revisar el soporte almacenado.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15D18-9B10-4DD6-8CAA-9DC6035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95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1A"/>
                </a:solidFill>
              </a:defRPr>
            </a:pPr>
            <a:r>
              <a:rPr sz="1500" b="1">
                <a:solidFill>
                  <a:srgbClr val="10231A"/>
                </a:solidFill>
              </a:rPr>
              <a:t>Eliminar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A8A17-B8BC-4C56-813A-B50C75F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429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67"/>
                </a:solidFill>
              </a:defRPr>
            </a:pPr>
            <a:r>
              <a:rPr sz="1275" b="0">
                <a:solidFill>
                  <a:srgbClr val="607067"/>
                </a:solidFill>
              </a:rPr>
              <a:t>Solicita confirmación antes de borrar.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B5C9E-9E96-4B45-B7C2-A0C337F1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7"/>
                </a:solidFill>
              </a:defRPr>
            </a:pPr>
            <a:r>
              <a:rPr sz="825" b="0">
                <a:solidFill>
                  <a:srgbClr val="607067"/>
                </a:solidFill>
              </a:rPr>
              <a:t>ContaPlazo  •  Diseño de Aplicaciones Móviles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5E7B0-E2F0-4184-BEC5-D8EC7B7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3324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F7B44-0398-47E3-9F43-D326EAE3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583E"/>
                </a:solidFill>
              </a:defRPr>
            </a:pPr>
            <a:r>
              <a:rPr sz="1050" b="1">
                <a:solidFill>
                  <a:srgbClr val="07583E"/>
                </a:solidFill>
              </a:rPr>
              <a:t>CALIDAD Y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54500-2151-4E6D-B970-0264F9CE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31A"/>
                </a:solidFill>
              </a:defRPr>
            </a:pPr>
            <a:r>
              <a:rPr sz="2925" b="1">
                <a:solidFill>
                  <a:srgbClr val="10231A"/>
                </a:solidFill>
              </a:rPr>
              <a:t>La entrega combina controles técnicos, pruebas y protección por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8EAD9-EF3C-4637-A905-4E1BA7A7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B3238-6F45-44E0-8A78-A84C3EF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83E"/>
                </a:solidFill>
              </a:defRPr>
            </a:pPr>
            <a:r>
              <a:rPr sz="1200" b="1">
                <a:solidFill>
                  <a:srgbClr val="07583E"/>
                </a:solidFill>
              </a:rPr>
              <a:t>SEGURIDAD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CDEED-B34D-4A55-92C1-18F69FCE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D89CE-BC98-4256-960E-4DC57DD3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Autenticación anónima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Row Level Security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Storage privado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Sin service_role en la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32108-69A1-4761-A974-8FB40124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83E"/>
                </a:solidFill>
              </a:defRPr>
            </a:pPr>
            <a:r>
              <a:rPr sz="1200" b="1">
                <a:solidFill>
                  <a:srgbClr val="07583E"/>
                </a:solidFill>
              </a:rPr>
              <a:t>VERIFICACIÓN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97164-701E-46FF-8EA9-6B5F551D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5374E-AC18-42DC-A6E8-172223B6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flutter analyze: sin hallazgos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5 pruebas automatizadas aprobadas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APK conectado compilado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Ejecución en BlueStacks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E4288-AEBF-4B98-9170-CDBB1D8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83E"/>
                </a:solidFill>
              </a:defRPr>
            </a:pPr>
            <a:r>
              <a:rPr sz="1200" b="1">
                <a:solidFill>
                  <a:srgbClr val="07583E"/>
                </a:solidFill>
              </a:rPr>
              <a:t>DESPLIEGUE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88442-1164-4731-B214-0191A222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8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C5B40-4F76-4F84-A637-800E850B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Migración SQL versionada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Configuración mediante dart-define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Credenciales públicas ignoradas por Git</a:t>
            </a:r>
          </a:p>
          <a:p xmlns:a="http://schemas.openxmlformats.org/drawingml/2006/main">
            <a:pPr algn="l">
              <a:defRPr sz="1425" b="0">
                <a:solidFill>
                  <a:srgbClr val="10231A"/>
                </a:solidFill>
              </a:defRPr>
            </a:pPr>
            <a:r>
              <a:rPr sz="1425" b="0">
                <a:solidFill>
                  <a:srgbClr val="10231A"/>
                </a:solidFill>
              </a:rPr>
              <a:t>Repositorio reproducible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2571D-E765-497C-82F2-1348AD50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067"/>
                </a:solidFill>
              </a:defRPr>
            </a:pPr>
            <a:r>
              <a:rPr sz="1200" b="1">
                <a:solidFill>
                  <a:srgbClr val="607067"/>
                </a:solidFill>
              </a:rPr>
              <a:t>Principio 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48F56-7545-4E55-807F-205C37D3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862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1A"/>
                </a:solidFill>
              </a:defRPr>
            </a:pPr>
            <a:r>
              <a:rPr sz="1725" b="1">
                <a:solidFill>
                  <a:srgbClr val="10231A"/>
                </a:solidFill>
              </a:rPr>
              <a:t>La aplicación sigue siendo útil sin red y sincroniza sin sacrificar la separación de datos.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F09FFB-C60B-40B9-8B84-27B1093A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67"/>
                </a:solidFill>
              </a:defRPr>
            </a:pPr>
            <a:r>
              <a:rPr sz="825" b="0">
                <a:solidFill>
                  <a:srgbClr val="607067"/>
                </a:solidFill>
              </a:rPr>
              <a:t>ContaPlazo  •  Diseño de Aplicaciones Móviles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95F8A-BA36-470C-8DDE-AF0B2CB6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67"/>
                </a:solidFill>
              </a:defRPr>
            </a:pPr>
            <a:r>
              <a:rPr sz="825" b="1">
                <a:solidFill>
                  <a:srgbClr val="60706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8667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5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1E2A2-3B51-4885-BCE8-10DE93CC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FF3E8"/>
                </a:solidFill>
              </a:defRPr>
            </a:pPr>
            <a:r>
              <a:rPr sz="1125" b="1">
                <a:solidFill>
                  <a:srgbClr val="DFF3E8"/>
                </a:solidFill>
              </a:rPr>
              <a:t>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A3C06-9EB0-4CC5-9D89-711EEF89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23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ContaPlazo ya integra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operación local y nube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29580-128F-4DCD-ABAF-4ECB2D26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52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EE3"/>
                </a:solidFill>
              </a:defRPr>
            </a:pPr>
            <a:r>
              <a:rPr sz="1650" b="0">
                <a:solidFill>
                  <a:srgbClr val="D7EEE3"/>
                </a:solidFill>
              </a:rPr>
              <a:t>Una base funcional para crecer hacia iOS, notificaciones programadas y colaboración con clientes.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6A9C-1C8C-4F77-8C0D-B224BCB9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8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1DCDC-1229-4AA2-B44F-78D4BE7D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FF3E8"/>
                </a:solidFill>
              </a:defRPr>
            </a:pPr>
            <a:r>
              <a:rPr sz="1125" b="1">
                <a:solidFill>
                  <a:srgbClr val="DFF3E8"/>
                </a:solidFill>
              </a:rPr>
              <a:t>SIGUIENTES PASOS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48A76-F89E-4A4D-B422-850AF158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  Validación con contadores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3A046-FAF0-49FB-BF34-0AC6D311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57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  Recordatorios push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017BA-BDC8-4770-BCA6-BE8DDE10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577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  Publicación Android / 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3720F-B7E6-402D-821C-A4F5C64E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EEE3"/>
                </a:solidFill>
              </a:defRPr>
            </a:pPr>
            <a:r>
              <a:rPr sz="1125" b="0">
                <a:solidFill>
                  <a:srgbClr val="D7EEE3"/>
                </a:solidFill>
              </a:rPr>
              <a:t>github.com/NetSysFX/ContaPlazo</a:t>
            </a:r>
          </a:p>
        </p:txBody>
      </p:sp>
    </p:spTree>
    <p:extLst>
      <p:ext uri="{BB962C8B-B14F-4D97-AF65-F5344CB8AC3E}">
        <p14:creationId xmlns:p14="http://schemas.microsoft.com/office/powerpoint/2010/main" val="121689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2026-09-02T13:08:22.8630000Z</dcterms:created>
  <dcterms:modified xsi:type="dcterms:W3CDTF">2026-09-02T13:08:22.8630000Z</dcterms:modified>
</coreProperties>
</file>